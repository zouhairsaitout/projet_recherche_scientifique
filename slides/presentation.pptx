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Profondeur des réseaux de neurones :</a:t>
            </a:r>
          </a:p>
          <a:p>
            <a:pPr algn="l"/>
            <a:r>
              <a:rPr sz="3200" b="1" i="0">
                <a:solidFill>
                  <a:srgbClr val="FFFFFF"/>
                </a:solidFill>
              </a:rPr>
              <a:t>peut-on caractériser les fonctions qui la nécessitent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 i="1">
                <a:solidFill>
                  <a:srgbClr val="CCD6E6"/>
                </a:solidFill>
              </a:rPr>
              <a:t>Initiation à la recherche scientifique — Polytech Nice Sophia, MAM3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Zouhair Saitout  ·  Thibaud Crotta  ·  Romain 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CCD6E6"/>
                </a:solidFill>
              </a:rPr>
              <a:t>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Pourquoi la profondeur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Un facteur empiriquement décisif des réseaux modernes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/>
              <a:t>• Les architectures modernes les plus performantes sont profondes :</a:t>
            </a:r>
          </a:p>
          <a:p>
            <a:pPr algn="l">
              <a:spcAft>
                <a:spcPts val="600"/>
              </a:spcAft>
            </a:pPr>
            <a:r>
              <a:rPr sz="2000"/>
              <a:t>  – GPT-4 : ~96 couches de transformers</a:t>
            </a:r>
          </a:p>
          <a:p>
            <a:pPr algn="l">
              <a:spcAft>
                <a:spcPts val="600"/>
              </a:spcAft>
            </a:pPr>
            <a:r>
              <a:rPr sz="2000"/>
              <a:t>  – ResNet-152 : 152 couches convolutives</a:t>
            </a:r>
          </a:p>
          <a:p>
            <a:pPr algn="l">
              <a:spcAft>
                <a:spcPts val="600"/>
              </a:spcAft>
            </a:pPr>
            <a:r>
              <a:rPr sz="2000"/>
              <a:t>  – AlphaFold : blocs profonds pour la prédiction de structures</a:t>
            </a:r>
          </a:p>
          <a:p>
            <a:pPr algn="l">
              <a:spcAft>
                <a:spcPts val="600"/>
              </a:spcAft>
            </a:pPr>
            <a:r>
              <a:rPr sz="2000"/>
              <a:t>• Intuition : chaque couche apprend une abstraction de plus haut niveau</a:t>
            </a:r>
          </a:p>
          <a:p>
            <a:pPr algn="l">
              <a:spcAft>
                <a:spcPts val="600"/>
              </a:spcAft>
            </a:pPr>
            <a:r>
              <a:rPr sz="2000"/>
              <a:t>• Mais : est-ce une nécessité théorique, ou juste une heuristique qui marche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303520"/>
            <a:ext cx="10972800" cy="8686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B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800" b="1">
                <a:solidFill>
                  <a:srgbClr val="0B2F5C"/>
                </a:solidFill>
              </a:rPr>
              <a:t>Tension centrale :  pratique (profondeur essentielle)  vs.  théorie (1 couche suffit)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Romain Ben —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Le théorème d'approximation universelle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Un réseau peu profond suffit... en théorie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72800" cy="2011680"/>
          </a:xfrm>
          <a:prstGeom prst="roundRect">
            <a:avLst/>
          </a:prstGeom>
          <a:solidFill>
            <a:srgbClr val="F4F4F4"/>
          </a:solidFill>
          <a:ln w="19050">
            <a:solidFill>
              <a:srgbClr val="0B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800" b="1">
                <a:solidFill>
                  <a:srgbClr val="0B2F5C"/>
                </a:solidFill>
              </a:rPr>
              <a:t>Théorème (Cybenko, 1989)</a:t>
            </a:r>
          </a:p>
          <a:p>
            <a:pPr>
              <a:spcBef>
                <a:spcPts val="800"/>
              </a:spcBef>
            </a:pPr>
            <a:r>
              <a:rPr sz="1800" i="1"/>
              <a:t>Pour toute fonction continue f sur [0,1]^d et tout ε &gt; 0, il existe un réseau à UNE SEULE couche cachée (sigmoïde) tel que  ‖ f − f_N ‖∞  &lt;  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/>
              <a:t>• Extension : Hornik (1991) — valable pour toute activation non polynomiale</a:t>
            </a:r>
          </a:p>
          <a:p>
            <a:pPr algn="l">
              <a:spcAft>
                <a:spcPts val="600"/>
              </a:spcAft>
            </a:pPr>
            <a:r>
              <a:rPr sz="2000"/>
              <a:t>• Synthèse complète : Pinkus (1999), théorie de l'approximation MLP</a:t>
            </a:r>
          </a:p>
          <a:p>
            <a:pPr algn="l">
              <a:spcAft>
                <a:spcPts val="600"/>
              </a:spcAft>
            </a:pPr>
            <a:r>
              <a:rPr sz="2000"/>
              <a:t>• Conséquence : la profondeur n'est pas nécessaire pour l'expressivité</a:t>
            </a:r>
          </a:p>
          <a:p>
            <a:pPr algn="l">
              <a:spcAft>
                <a:spcPts val="600"/>
              </a:spcAft>
            </a:pPr>
            <a:r>
              <a:rPr sz="2000"/>
              <a:t>• MAIS : ce théorème ne dit rien sur la valeur de N (nombre de neurones)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Romain Ben —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Le coût caché en neurones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Combien de neurones faut-il vraiment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182880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B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800" b="1">
                <a:solidFill>
                  <a:srgbClr val="0B2F5C"/>
                </a:solidFill>
              </a:rPr>
              <a:t>Borne de Barron (1993)</a:t>
            </a:r>
          </a:p>
          <a:p>
            <a:pPr>
              <a:spcBef>
                <a:spcPts val="600"/>
              </a:spcBef>
            </a:pPr>
            <a:r>
              <a:rPr sz="1800"/>
              <a:t>Pour f de spectre de Fourier intégrable (C_f &lt; ∞) :    erreur quadratique  ≤  C_f² / N</a:t>
            </a:r>
          </a:p>
          <a:p>
            <a:pPr>
              <a:spcBef>
                <a:spcPts val="400"/>
              </a:spcBef>
            </a:pPr>
            <a:r>
              <a:rPr sz="1600" i="1">
                <a:solidFill>
                  <a:srgbClr val="C0392B"/>
                </a:solidFill>
              </a:rPr>
              <a:t>→ borne indépendante de la dimension d, mais classe restreinte.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/>
              <a:t>• Pour des fonctions plus générales : N peut être exponentiel en d ou en 1/ε</a:t>
            </a:r>
          </a:p>
          <a:p>
            <a:pPr algn="l">
              <a:spcAft>
                <a:spcPts val="600"/>
              </a:spcAft>
            </a:pPr>
            <a:r>
              <a:rPr sz="2000"/>
              <a:t>• Intuition : une fonction qui oscille k fois → ∼ k neurones par oscillation en shallow</a:t>
            </a:r>
          </a:p>
          <a:p>
            <a:pPr algn="l">
              <a:spcAft>
                <a:spcPts val="600"/>
              </a:spcAft>
            </a:pPr>
            <a:r>
              <a:rPr sz="2000"/>
              <a:t>  – Un réseau profond compose les oscillations → 2^k morceaux avec k couches</a:t>
            </a:r>
          </a:p>
          <a:p>
            <a:pPr algn="l">
              <a:spcAft>
                <a:spcPts val="600"/>
              </a:spcAft>
            </a:pPr>
            <a:r>
              <a:rPr sz="2000"/>
              <a:t>• Le coût caché du théorème de Cybenko : la largeur peut exploser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Romain Ben —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La question de recherche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10332720" cy="2743200"/>
          </a:xfrm>
          <a:prstGeom prst="round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Peut-on caractériser mathématiquement la classe des fonctions pour lesquelles la profondeur d'un réseau de neurones est strictement nécessaire ?</a:t>
            </a:r>
          </a:p>
          <a:p>
            <a:pPr algn="ctr">
              <a:spcBef>
                <a:spcPts val="2000"/>
              </a:spcBef>
            </a:pPr>
            <a:r>
              <a:rPr sz="1800" i="1">
                <a:solidFill>
                  <a:srgbClr val="CCD6E6"/>
                </a:solidFill>
              </a:rPr>
              <a:t>c'est-à-dire celles dont l'approximation par un réseau peu profond requiert un nombre de neurones exponentiellement plus grand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</a:rPr>
              <a:t>→ Zouhair pose le cadre formel, puis présente les premiers résultats de séparation.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Romain Ben —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Formalisme : définition d'un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Réseau feedforward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1554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B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800" b="1">
                <a:solidFill>
                  <a:srgbClr val="0B2F5C"/>
                </a:solidFill>
              </a:rPr>
              <a:t>Définition (réseau de profondeur L)</a:t>
            </a:r>
          </a:p>
          <a:p>
            <a:pPr>
              <a:spcBef>
                <a:spcPts val="600"/>
              </a:spcBef>
            </a:pPr>
            <a:r>
              <a:rPr sz="2000" b="1"/>
              <a:t>h⁽⁰⁾ = x ,    h⁽ˡ⁾ = σ ( W⁽ˡ⁾ h⁽ˡ⁻¹⁾ + b⁽ˡ⁾ )    pour 1 ≤ l ≤ L ,    f_θ(x) = h⁽ᴸ⁾</a:t>
            </a:r>
          </a:p>
          <a:p>
            <a:pPr>
              <a:spcBef>
                <a:spcPts val="400"/>
              </a:spcBef>
            </a:pPr>
            <a:r>
              <a:rPr sz="1500" i="1"/>
              <a:t>avec W⁽ˡ⁾ ∈ ℝ^{n_l × n_{l-1}} ,  b⁽ˡ⁾ ∈ ℝ^{n_l}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/>
              <a:t>• Profondeur L : nombre de couches</a:t>
            </a:r>
          </a:p>
          <a:p>
            <a:pPr algn="l">
              <a:spcAft>
                <a:spcPts val="600"/>
              </a:spcAft>
            </a:pPr>
            <a:r>
              <a:rPr sz="2000"/>
              <a:t>• Largeur : max_l n_l (nombre maximal de neurones par couche)</a:t>
            </a:r>
          </a:p>
          <a:p>
            <a:pPr algn="l">
              <a:spcAft>
                <a:spcPts val="600"/>
              </a:spcAft>
            </a:pPr>
            <a:r>
              <a:rPr sz="2000"/>
              <a:t>• Activations :</a:t>
            </a:r>
          </a:p>
          <a:p>
            <a:pPr algn="l">
              <a:spcAft>
                <a:spcPts val="600"/>
              </a:spcAft>
            </a:pPr>
            <a:r>
              <a:rPr sz="2000"/>
              <a:t>  – Sigmoïde σ(t) = 1/(1+e⁻ᵗ)  —  théorie classique (Cybenko, Hornik)</a:t>
            </a:r>
          </a:p>
          <a:p>
            <a:pPr algn="l">
              <a:spcAft>
                <a:spcPts val="600"/>
              </a:spcAft>
            </a:pPr>
            <a:r>
              <a:rPr sz="2000"/>
              <a:t>  – ReLU σ(t) = max(0, t)  —  réseau linéaire par morceaux, résultats modernes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Zouhair Saitout — Formalisme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Formalisme : approximation et complexité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Coût en neurones d'une ε-approximation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/>
              <a:t>• ε-approximation : trouver f_N tel que  ‖ f − f_N ‖ &lt; ε  (norme ∞ ou L²)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972800" cy="1554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B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800" b="1">
                <a:solidFill>
                  <a:srgbClr val="0B2F5C"/>
                </a:solidFill>
              </a:rPr>
              <a:t>Quantité centrale</a:t>
            </a:r>
          </a:p>
          <a:p>
            <a:pPr>
              <a:spcBef>
                <a:spcPts val="600"/>
              </a:spcBef>
            </a:pPr>
            <a:r>
              <a:rPr sz="1800"/>
              <a:t>N(ε, f, L)  =  nombre minimal de neurones pour approcher f à précision ε avec un réseau de profondeur ≤ 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10972800" cy="1645920"/>
          </a:xfrm>
          <a:prstGeom prst="round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Séparation par profondeur (formellement)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∃ f :    N(ε, f, L_petit)  ≥  exp(d) · N(ε, f, L_grand)</a:t>
            </a:r>
          </a:p>
          <a:p>
            <a:pPr>
              <a:spcBef>
                <a:spcPts val="400"/>
              </a:spcBef>
            </a:pPr>
            <a:r>
              <a:rPr sz="1400" i="1">
                <a:solidFill>
                  <a:srgbClr val="CCD6E6"/>
                </a:solidFill>
              </a:rPr>
              <a:t>→ prouver de telles bornes inférieures est tout l'enjeu de la théorie.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Zouhair Saitout — Formalisme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Telgarsky (2016) : fonctions zigzag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Première séparation exponentielle prouvée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/>
              <a:t>• Construction : dent de scie  t(x) = 2 |x − 1/2|  sur [0,1]</a:t>
            </a:r>
          </a:p>
          <a:p>
            <a:pPr algn="l">
              <a:spcAft>
                <a:spcPts val="600"/>
              </a:spcAft>
            </a:pPr>
            <a:r>
              <a:rPr sz="2000"/>
              <a:t>  – Itération : t_k = t ∘ t ∘ ··· ∘ t  (k fois)  →  t_k a 2^k morceaux linéaires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972800" cy="2194560"/>
          </a:xfrm>
          <a:prstGeom prst="roundRect">
            <a:avLst/>
          </a:prstGeom>
          <a:solidFill>
            <a:srgbClr val="F4F4F4"/>
          </a:solidFill>
          <a:ln w="19050">
            <a:solidFill>
              <a:srgbClr val="0B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800" b="1">
                <a:solidFill>
                  <a:srgbClr val="0B2F5C"/>
                </a:solidFill>
              </a:rPr>
              <a:t>Théorème (Telgarsky, 2016)</a:t>
            </a:r>
          </a:p>
          <a:p>
            <a:pPr>
              <a:spcBef>
                <a:spcPts val="600"/>
              </a:spcBef>
            </a:pPr>
            <a:r>
              <a:rPr sz="1800"/>
              <a:t>• Un réseau ReLU de profondeur k et largeur O(1) représente t_k exactement.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C0392B"/>
                </a:solidFill>
              </a:rPr>
              <a:t>• Tout réseau ReLU de profondeur ≤ k/2 qui approche t_k à précision 1/2 doit avoir au moins  2^{k/6}  neurones.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/>
              <a:t>• Idée de preuve : chaque couche ReLU au plus DOUBLE le nombre de morceaux linéaires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Zouhair Saitout — Séparations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Illustration : itérations de la dent de scie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L'analogie fractale : doublement à chaque couche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41840"/>
            <a:ext cx="2560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0B2F5C"/>
                </a:solidFill>
              </a:rPr>
              <a:t>t₁ — 2 morceaux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85800" y="1600200"/>
            <a:ext cx="114300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1600200"/>
            <a:ext cx="114300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383280" y="1463040"/>
            <a:ext cx="2560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341840"/>
            <a:ext cx="2560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0B2F5C"/>
                </a:solidFill>
              </a:rPr>
              <a:t>t₂ — 4 morceaux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520440" y="1600200"/>
            <a:ext cx="57150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91940" y="1600200"/>
            <a:ext cx="57150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663440" y="1600200"/>
            <a:ext cx="57150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34940" y="1600200"/>
            <a:ext cx="57150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217920" y="1463040"/>
            <a:ext cx="2560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341840"/>
            <a:ext cx="2560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0B2F5C"/>
                </a:solidFill>
              </a:rPr>
              <a:t>t₃ — 8 morceaux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355080" y="1600200"/>
            <a:ext cx="28575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640830" y="1600200"/>
            <a:ext cx="28575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926580" y="1600200"/>
            <a:ext cx="28575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12330" y="1600200"/>
            <a:ext cx="28575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498080" y="1600200"/>
            <a:ext cx="28575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83830" y="1600200"/>
            <a:ext cx="28575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069580" y="1600200"/>
            <a:ext cx="28575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55330" y="1600200"/>
            <a:ext cx="285750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052560" y="1463040"/>
            <a:ext cx="2560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341840"/>
            <a:ext cx="2560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0B2F5C"/>
                </a:solidFill>
              </a:rPr>
              <a:t>t₅ — 32 morceaux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9189720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61157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332595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404032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475470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46907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618345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89782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761220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832657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904095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975532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046970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118407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189845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261282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332720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04157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475595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547032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618470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689907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761345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832782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904220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975657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047095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18532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1189970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61407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332845" y="1600200"/>
            <a:ext cx="71437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404282" y="1600200"/>
            <a:ext cx="71438" cy="1554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640080" y="4297680"/>
            <a:ext cx="10972800" cy="182880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B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2000" b="1">
                <a:solidFill>
                  <a:srgbClr val="0B2F5C"/>
                </a:solidFill>
              </a:rPr>
              <a:t>Réseau profond : k couches → 2^k morceaux par composition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C0392B"/>
                </a:solidFill>
              </a:rPr>
              <a:t>Réseau peu profond : il faut 2^k neurones séparés pour les générer un par un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Zouhair Saitout — Séparations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Montufar et al. (2014) : régions linéaires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Géométrie de l'expressivité d'un réseau ReLU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146304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B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800" b="1">
                <a:solidFill>
                  <a:srgbClr val="0B2F5C"/>
                </a:solidFill>
              </a:rPr>
              <a:t>Théorème (Montufar et al., 2014)</a:t>
            </a:r>
          </a:p>
          <a:p>
            <a:pPr>
              <a:spcBef>
                <a:spcPts val="600"/>
              </a:spcBef>
            </a:pPr>
            <a:r>
              <a:rPr sz="1700" b="1"/>
              <a:t>Un réseau ReLU à L couches, largeur n, dimension d, a au plus  Θ( (n/d)^{d(L−1)} · n^d )  régions linéaires.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0B2F5C"/>
                </a:solidFill>
              </a:rPr>
              <a:t>À nombre total de paramètres fixé (n · L = const) 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0" y="3566160"/>
          <a:ext cx="7589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Paramètre qui croît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Croissance du nb de régions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Profondeur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0392B"/>
                          </a:solidFill>
                        </a:rPr>
                        <a:t>EXPONENTIELLE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Largeur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Polynomiale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 i="1">
                <a:solidFill>
                  <a:srgbClr val="0B2F5C"/>
                </a:solidFill>
              </a:rPr>
              <a:t>→ La profondeur est exponentiellement plus efficace que la largeur pour générer de la complexité géométrique.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Zouhair Saitout — Séparations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Eldan &amp; Shamir (2016) : fonctions radiales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Séparer 2 vs 3 couches — le résultat le plus surprenant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/>
              <a:t>• Construction : f : ℝ^d → ℝ  radiale (dépend uniquement de ‖x‖), fortement oscillante en ‖x‖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0B2F5C"/>
                </a:solidFill>
              </a:rPr>
              <a:t>Théorème (Eldan &amp; Shamir, 2016)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0" y="2926080"/>
          <a:ext cx="85039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5181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Profondeur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Largeur nécessaire pour approcher f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600"/>
                        <a:t>3 couches 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poly(d)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600"/>
                        <a:t>2 couches 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0392B"/>
                          </a:solidFill>
                        </a:rPr>
                        <a:t>≥ exp( Ω(d) 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8463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/>
              <a:t>• Séparation EXPONENTIELLE entre profondeur 2 et profondeur 3, en dimension d</a:t>
            </a:r>
          </a:p>
          <a:p>
            <a:pPr algn="l">
              <a:spcAft>
                <a:spcPts val="600"/>
              </a:spcAft>
            </a:pPr>
            <a:r>
              <a:rPr sz="1700"/>
              <a:t>• Preuve : analyse fine du spectre de Fourier en coordonnées radiales</a:t>
            </a:r>
          </a:p>
          <a:p>
            <a:pPr algn="l">
              <a:spcAft>
                <a:spcPts val="600"/>
              </a:spcAft>
            </a:pPr>
            <a:r>
              <a:rPr sz="1700"/>
              <a:t>  – La 3ᵉ couche permet de "reconcentrer" l'oscillation, infaisable en 2 couches sans coût exponentiel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Thibaud Crotta — Séparations &amp; caractérisation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Daniely (2017)  &amp;  Safran–Shamir (2017)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Séparation algébrique  ·  trade-off largeur–profondeur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493776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B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800" b="1">
                <a:solidFill>
                  <a:srgbClr val="0B2F5C"/>
                </a:solidFill>
              </a:rPr>
              <a:t>Daniely (COLT 2017)</a:t>
            </a:r>
          </a:p>
          <a:p>
            <a:r>
              <a:rPr sz="1500"/>
              <a:t/>
            </a:r>
          </a:p>
          <a:p>
            <a:r>
              <a:rPr sz="1500"/>
              <a:t>Un réseau ReLU à 2 couches à poids polynomialement bornés</a:t>
            </a:r>
          </a:p>
          <a:p>
            <a:r>
              <a:rPr sz="1500"/>
              <a:t>ne peut pas approcher f</a:t>
            </a:r>
          </a:p>
          <a:p>
            <a:r>
              <a:rPr sz="1500"/>
              <a:t>si f est loin (en L²) d'un polynôme de bas degré</a:t>
            </a:r>
          </a:p>
          <a:p>
            <a:r>
              <a:rPr sz="1500"/>
              <a:t>sur S^{d−1} × S^{d−1}.</a:t>
            </a:r>
          </a:p>
          <a:p>
            <a:r>
              <a:rPr sz="1500"/>
              <a:t/>
            </a:r>
          </a:p>
          <a:p>
            <a:r>
              <a:rPr sz="1500"/>
              <a:t>→ condition SUFFISANTE de non-approximation</a:t>
            </a:r>
          </a:p>
          <a:p>
            <a:r>
              <a:rPr sz="1500"/>
              <a:t>    par les réseaux peu profonds.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394960" cy="493776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B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800" b="1">
                <a:solidFill>
                  <a:srgbClr val="0B2F5C"/>
                </a:solidFill>
              </a:rPr>
              <a:t>Safran &amp; Shamir (ICML 2017)</a:t>
            </a:r>
          </a:p>
          <a:p>
            <a:r>
              <a:rPr sz="1500"/>
              <a:t/>
            </a:r>
          </a:p>
          <a:p>
            <a:r>
              <a:rPr sz="1500"/>
              <a:t>Pour des fonctions naturelles, ex. f(x) = ‖x‖₂ :</a:t>
            </a:r>
          </a:p>
          <a:p>
            <a:r>
              <a:rPr sz="1500"/>
              <a:t/>
            </a:r>
          </a:p>
          <a:p>
            <a:r>
              <a:rPr sz="1500"/>
              <a:t>À précision fixée,</a:t>
            </a:r>
          </a:p>
          <a:p>
            <a:r>
              <a:rPr sz="1500"/>
              <a:t>    diminuer L d'un facteur multiplicatif</a:t>
            </a:r>
          </a:p>
          <a:p>
            <a:r>
              <a:rPr sz="1500"/>
              <a:t>    → augmente N d'un facteur EXPONENTIEL.</a:t>
            </a:r>
          </a:p>
          <a:p>
            <a:r>
              <a:rPr sz="1500"/>
              <a:t/>
            </a:r>
          </a:p>
          <a:p>
            <a:r>
              <a:rPr sz="1500"/>
              <a:t>→ quantification du trade-off profondeur–largeur.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Thibaud Crotta — Séparations &amp; caractérisation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Raghu et al. (2017)  &amp;  Diakonikolas et al. (2022)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Mesure géométrique  ·  caractérisation spectrale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1554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0B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800" b="1">
                <a:solidFill>
                  <a:srgbClr val="0B2F5C"/>
                </a:solidFill>
              </a:rPr>
              <a:t>Raghu et al. (ICML 2017) — longueur de trajectoire</a:t>
            </a:r>
          </a:p>
          <a:p>
            <a:pPr>
              <a:spcBef>
                <a:spcPts val="600"/>
              </a:spcBef>
            </a:pPr>
            <a:r>
              <a:rPr sz="1600"/>
              <a:t>Métrique : longueur ℓ(L) de l'image, par le réseau, d'une courbe simple. ℓ(L) croît exponentiellement avec L. → le réseau profond "plie" l'espace.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0972800" cy="3108960"/>
          </a:xfrm>
          <a:prstGeom prst="round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Diakonikolas et al. (JMLR 2022) — caractérisation Fourier sphérique</a:t>
            </a:r>
          </a:p>
          <a:p>
            <a:pPr>
              <a:spcBef>
                <a:spcPts val="1000"/>
              </a:spcBef>
            </a:pPr>
            <a:r>
              <a:rPr sz="1600" i="1">
                <a:solidFill>
                  <a:srgbClr val="CCD6E6"/>
                </a:solidFill>
              </a:rPr>
              <a:t>Sur la sphère S^{d−1} :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FFFFFF"/>
                </a:solidFill>
              </a:rPr>
              <a:t>f efficacement approchable par 1 couche cachée de taille poly(d)</a:t>
            </a:r>
          </a:p>
          <a:p>
            <a:pPr algn="ctr">
              <a:spcBef>
                <a:spcPts val="200"/>
              </a:spcBef>
            </a:pPr>
            <a:r>
              <a:rPr sz="2000" b="1">
                <a:solidFill>
                  <a:srgbClr val="FFFFFF"/>
                </a:solidFill>
              </a:rPr>
              <a:t>⇔</a:t>
            </a:r>
          </a:p>
          <a:p>
            <a:pPr>
              <a:spcBef>
                <a:spcPts val="200"/>
              </a:spcBef>
            </a:pPr>
            <a:r>
              <a:rPr sz="1700">
                <a:solidFill>
                  <a:srgbClr val="FFFFFF"/>
                </a:solidFill>
              </a:rPr>
              <a:t>son spectre de Fourier sphérique est concentré sur des harmoniques de degré ≤ O(polylog d)</a:t>
            </a:r>
          </a:p>
          <a:p>
            <a:pPr>
              <a:spcBef>
                <a:spcPts val="800"/>
              </a:spcBef>
            </a:pPr>
            <a:r>
              <a:rPr sz="1500" i="1">
                <a:solidFill>
                  <a:srgbClr val="CCD6E6"/>
                </a:solidFill>
              </a:rPr>
              <a:t>→ SEULE caractérisation nécessaire ET suffisante connue, mais uniquement sur la sphère.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Thibaud Crotta — Séparations &amp; caractérisation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Vardi et al. (2020) : barrières formelles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Pourquoi une caractérisation générale est-elle si difficile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/>
              <a:t>• Toutes les preuves actuelles de séparation supposent (souvent implicitement) :</a:t>
            </a:r>
          </a:p>
          <a:p>
            <a:pPr algn="l">
              <a:spcAft>
                <a:spcPts val="600"/>
              </a:spcAft>
            </a:pPr>
            <a:r>
              <a:rPr sz="1800"/>
              <a:t>  – ‖W^{(l)}‖∞ , ‖b^{(l)}‖∞  ≤  poly(d)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972800" cy="2011680"/>
          </a:xfrm>
          <a:prstGeom prst="roundRect">
            <a:avLst/>
          </a:prstGeom>
          <a:solidFill>
            <a:srgbClr val="F4F4F4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800" b="1">
                <a:solidFill>
                  <a:srgbClr val="C0392B"/>
                </a:solidFill>
              </a:rPr>
              <a:t>Résultat (Vardi, Yehudai, Shamir — NeurIPS 2020)</a:t>
            </a:r>
          </a:p>
          <a:p>
            <a:pPr>
              <a:spcBef>
                <a:spcPts val="800"/>
              </a:spcBef>
            </a:pPr>
            <a:r>
              <a:rPr sz="1700"/>
              <a:t>Si on autorise des poids exponentiellement grands :</a:t>
            </a:r>
          </a:p>
          <a:p>
            <a:pPr>
              <a:spcBef>
                <a:spcPts val="400"/>
              </a:spcBef>
            </a:pPr>
            <a:r>
              <a:rPr sz="1700"/>
              <a:t>•  tout réseau profond peut être simulé EXACTEMENT par un réseau peu profond</a:t>
            </a:r>
          </a:p>
          <a:p>
            <a:pPr>
              <a:spcBef>
                <a:spcPts val="200"/>
              </a:spcBef>
            </a:pPr>
            <a:r>
              <a:rPr sz="1700" b="1"/>
              <a:t>•  toutes les séparations connues (Telgarsky, Eldan–Shamir...) S'EFFONDRENT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/>
              <a:t>• Conséquence : toute caractérisation future devra</a:t>
            </a:r>
          </a:p>
          <a:p>
            <a:pPr algn="l">
              <a:spcAft>
                <a:spcPts val="600"/>
              </a:spcAft>
            </a:pPr>
            <a:r>
              <a:rPr sz="1700"/>
              <a:t>  – spécifier le régime de poids considéré</a:t>
            </a:r>
          </a:p>
          <a:p>
            <a:pPr algn="l">
              <a:spcAft>
                <a:spcPts val="600"/>
              </a:spcAft>
            </a:pPr>
            <a:r>
              <a:rPr sz="1700"/>
              <a:t>  – s'appuyer sur des arguments valides quand cette contrainte est relachée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Thibaud Crotta — Séparations &amp; caractérisation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Bilan et questions ouvertes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Ce qui est établi  ·  ce qui reste ouvert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4937760"/>
          </a:xfrm>
          <a:prstGeom prst="roundRect">
            <a:avLst/>
          </a:prstGeom>
          <a:solidFill>
            <a:srgbClr val="E8F1E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800" b="1">
                <a:solidFill>
                  <a:srgbClr val="1B5E20"/>
                </a:solidFill>
              </a:rPr>
              <a:t>Ce qui est établi</a:t>
            </a:r>
          </a:p>
          <a:p>
            <a:r>
              <a:rPr sz="1500"/>
              <a:t/>
            </a:r>
          </a:p>
          <a:p>
            <a:r>
              <a:rPr sz="1500"/>
              <a:t>Séparations exponentielles prouvées :</a:t>
            </a:r>
          </a:p>
          <a:p>
            <a:r>
              <a:rPr sz="1500"/>
              <a:t>  •  Fonctions zigzag (Telgarsky, 2016)</a:t>
            </a:r>
          </a:p>
          <a:p>
            <a:r>
              <a:rPr sz="1500"/>
              <a:t>  •  Fonctions radiales (Eldan–Shamir, 2016)</a:t>
            </a:r>
          </a:p>
          <a:p>
            <a:r>
              <a:rPr sz="1500"/>
              <a:t>  •  Spectre sphérique haute fréquence</a:t>
            </a:r>
          </a:p>
          <a:p>
            <a:r>
              <a:rPr sz="1500"/>
              <a:t>       (Diakonikolas et al., 2022)</a:t>
            </a:r>
          </a:p>
          <a:p>
            <a:r>
              <a:rPr sz="1500"/>
              <a:t/>
            </a:r>
          </a:p>
          <a:p>
            <a:r>
              <a:rPr sz="1500"/>
              <a:t>Nb de régions linéaires :</a:t>
            </a:r>
          </a:p>
          <a:p>
            <a:r>
              <a:rPr sz="1500"/>
              <a:t>  exponentiel en la profondeur</a:t>
            </a:r>
          </a:p>
          <a:p>
            <a:r>
              <a:rPr sz="1500"/>
              <a:t>  (Montufar et al., 2014)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394960" cy="4937760"/>
          </a:xfrm>
          <a:prstGeom prst="roundRect">
            <a:avLst/>
          </a:prstGeom>
          <a:solidFill>
            <a:srgbClr val="FDECEA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800" b="1">
                <a:solidFill>
                  <a:srgbClr val="C0392B"/>
                </a:solidFill>
              </a:rPr>
              <a:t>Ce qui reste ouvert</a:t>
            </a:r>
          </a:p>
          <a:p>
            <a:r>
              <a:rPr sz="1500"/>
              <a:t/>
            </a:r>
          </a:p>
          <a:p>
            <a:r>
              <a:rPr sz="1500"/>
              <a:t>Aucune caractérisation nécessaire ET</a:t>
            </a:r>
          </a:p>
          <a:p>
            <a:r>
              <a:rPr sz="1500"/>
              <a:t>suffisante de portée générale</a:t>
            </a:r>
          </a:p>
          <a:p>
            <a:r>
              <a:rPr sz="1500"/>
              <a:t/>
            </a:r>
          </a:p>
          <a:p>
            <a:r>
              <a:rPr sz="1500"/>
              <a:t>Les preuves ne tiennent que si les poids</a:t>
            </a:r>
          </a:p>
          <a:p>
            <a:r>
              <a:rPr sz="1500"/>
              <a:t>sont bornés (Vardi et al., 2020)</a:t>
            </a:r>
          </a:p>
          <a:p>
            <a:r>
              <a:rPr sz="1500"/>
              <a:t/>
            </a:r>
          </a:p>
          <a:p>
            <a:r>
              <a:rPr sz="1500"/>
              <a:t>Extension au-delà de la sphère : ouverte</a:t>
            </a:r>
          </a:p>
          <a:p>
            <a:r>
              <a:rPr sz="1500"/>
              <a:t/>
            </a:r>
          </a:p>
          <a:p>
            <a:r>
              <a:rPr sz="1500"/>
              <a:t>Lien formel avec la complexité booléenne</a:t>
            </a:r>
          </a:p>
          <a:p>
            <a:r>
              <a:rPr sz="1500"/>
              <a:t>(NC¹ vs AC⁰) : à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Romain Ben —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Références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13 articles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4616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Auteurs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Année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Conf./Journal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Contribution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1100"/>
                        <a:t>Cybenko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Math. Control Signals Syst.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Approximation universelle (sigmoïde)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1100"/>
                        <a:t>Hornik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Neural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Activations non polynomiales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1100"/>
                        <a:t>Barron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Trans. Inf. 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Borne quantitative (Fourier)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1100"/>
                        <a:t>Pinkus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Acta Numerica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Synthèse théorie MLP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1100"/>
                        <a:t>Montufar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NeurIPS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Régions linéaires et profondeur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1100"/>
                        <a:t>Eldan &amp; Shamir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Radiales, séparation 2 vs 3 couches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1100"/>
                        <a:t>Telgarsky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Zigzag, séparation exponentielle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1100"/>
                        <a:t>Raghu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ICML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Longueur de trajectoire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1100"/>
                        <a:t>Daniely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Séparation via polynômes bas degré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1100"/>
                        <a:t>Safran &amp; Shamir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ICML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Trade-offs profondeur–largeur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1100"/>
                        <a:t>Yarotsky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Neural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Bornes d'erreur ReLU profond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1100"/>
                        <a:t>Vardi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NeurIPS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Barrières formelles aux preuves</a:t>
                      </a:r>
                    </a:p>
                  </a:txBody>
                  <a:tcPr/>
                </a:tc>
              </a:tr>
              <a:tr h="346175">
                <a:tc>
                  <a:txBody>
                    <a:bodyPr/>
                    <a:lstStyle/>
                    <a:p>
                      <a:r>
                        <a:rPr sz="1100"/>
                        <a:t>Diakonikolas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JMLR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Caract. Fourier sphérique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PDFs disponibles dans biblio/ — Merci pour votre attention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