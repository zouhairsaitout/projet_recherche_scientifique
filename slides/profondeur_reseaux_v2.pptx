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Croissance</c:v>
                </c:pt>
              </c:strCache>
            </c:strRef>
          </c:tx>
          <c:spPr>
            <a:solidFill>
              <a:srgbClr val="E0555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3B-4290-BD39-14214EC5A6E4}"/>
              </c:ext>
            </c:extLst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3B-4290-BD39-14214EC5A6E4}"/>
              </c:ext>
            </c:extLst>
          </c:dPt>
          <c:cat>
            <c:strRef>
              <c:f>Sheet1!$A$2:$A$3</c:f>
              <c:strCache>
                <c:ptCount val="2"/>
                <c:pt idx="0">
                  <c:v>Augmenter la largeur (n)</c:v>
                </c:pt>
                <c:pt idx="1">
                  <c:v>Augmenter la profondeur (L)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3B-4290-BD39-14214EC5A6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5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928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74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417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560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703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846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989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7132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8275320" y="0"/>
            <a:ext cx="548640" cy="5143500"/>
          </a:xfrm>
          <a:prstGeom prst="rect">
            <a:avLst/>
          </a:prstGeom>
          <a:solidFill>
            <a:srgbClr val="1A2B5E">
              <a:alpha val="4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57200"/>
            <a:ext cx="1097280" cy="10972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des réseaux de neurones :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57200" y="17830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caractériser les fonctions qui la nécessitent ?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57200" y="2514600"/>
            <a:ext cx="8412480" cy="36576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à la recherche </a:t>
            </a:r>
            <a:r>
              <a:rPr lang="en-US" sz="1100" dirty="0" err="1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scientifique</a:t>
            </a:r>
            <a:r>
              <a:rPr lang="en-US" sz="11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Zouhair Saitout  ·  Thibaud Crotta  ·  Romain Ben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8046720" cy="10515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594360" y="38862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8"/>
                </a:solidFill>
              </a:rPr>
              <a:t>1.  Motivation &amp; paradoxe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CF8"/>
                </a:solidFill>
              </a:rPr>
              <a:t>2.  Formalisme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CF8"/>
                </a:solidFill>
              </a:rPr>
              <a:t>3.  Séparations par profondeur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8DCF8"/>
                </a:solidFill>
              </a:rPr>
              <a:t>4.  Caractérisation &amp; obstacles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profondeur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facteur empiriquement décisif des réseaux modernes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2103120"/>
          </a:xfrm>
          <a:prstGeom prst="rect">
            <a:avLst/>
          </a:prstGeom>
          <a:solidFill>
            <a:srgbClr val="1A2B5E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651760" cy="109728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 couches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transformers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33172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0" y="914400"/>
            <a:ext cx="2651760" cy="2103120"/>
          </a:xfrm>
          <a:prstGeom prst="rect">
            <a:avLst/>
          </a:prstGeom>
          <a:solidFill>
            <a:srgbClr val="1A2B5E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651760" cy="10972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9184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ResNet-152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9184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couches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convolutives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33172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080760" y="914400"/>
            <a:ext cx="2651760" cy="2103120"/>
          </a:xfrm>
          <a:prstGeom prst="rect">
            <a:avLst/>
          </a:prstGeom>
          <a:solidFill>
            <a:srgbClr val="1A2B5E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080760" y="914400"/>
            <a:ext cx="2651760" cy="109728"/>
          </a:xfrm>
          <a:prstGeom prst="rect">
            <a:avLst/>
          </a:prstGeom>
          <a:solidFill>
            <a:srgbClr val="F4A8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172200" y="1051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17220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Blocs profonds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structs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331720"/>
            <a:ext cx="411480" cy="4114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20040" y="3200400"/>
            <a:ext cx="8503920" cy="36576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36576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: chaque couche apprend une représentation de plus haut niveau.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20040" y="3749040"/>
            <a:ext cx="3931920" cy="777240"/>
          </a:xfrm>
          <a:prstGeom prst="rect">
            <a:avLst/>
          </a:prstGeom>
          <a:solidFill>
            <a:srgbClr val="1E35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4434840" y="3749040"/>
            <a:ext cx="4389120" cy="777240"/>
          </a:xfrm>
          <a:prstGeom prst="rect">
            <a:avLst/>
          </a:prstGeom>
          <a:solidFill>
            <a:srgbClr val="1E35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411480" y="3794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Pratique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= choix architectural central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26280" y="379476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Théorie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couche cachée suffit à approximer tout (Cybenko, 1989)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CF8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d'approximation universelle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8503920" cy="1920240"/>
          </a:xfrm>
          <a:prstGeom prst="rect">
            <a:avLst/>
          </a:prstGeom>
          <a:solidFill>
            <a:srgbClr val="EDF4FF"/>
          </a:solidFill>
          <a:ln w="2540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109728" cy="1920240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Théorème (Cybenko, 1989 ; Hornik, 1991)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toute fonction continue f sur [0,1]ᵈ et tout ε &gt; 0, il existe un réseau à UNE SEULE couche cachée (sigmoïde) tel </a:t>
            </a:r>
            <a:r>
              <a:rPr lang="en-US" sz="1200" dirty="0" err="1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‖f − fₙ‖∞ &lt; ε.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Étendu par Hornik (1991) à toute activation non-polynomiale  ·  Synthèse : Pinkus (1999)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4069080" cy="822960"/>
          </a:xfrm>
          <a:prstGeom prst="rect">
            <a:avLst/>
          </a:prstGeom>
          <a:solidFill>
            <a:srgbClr val="E8FA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803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8529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profondeur n'est pas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 pour l'expressivité.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2788920"/>
            <a:ext cx="425196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880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85292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théorème ne contrôle pas 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(nombre de neurones requis) !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0040" y="3749040"/>
            <a:ext cx="8503920" cy="7315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457200" y="38587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clé : Combien de neurones N faut-il vraiment ?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caché en neurones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de Barron (1993)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685800"/>
          </a:xfrm>
          <a:prstGeom prst="rect">
            <a:avLst/>
          </a:prstGeom>
          <a:solidFill>
            <a:srgbClr val="EDF4FF"/>
          </a:solidFill>
          <a:ln w="1270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Cf = ∫ ‖ω‖ |f̂(ω)| dω &lt; ∞   →   erreur quadratique ≤ Cf² / N   (indépendant de la dimension 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4206240" cy="2286000"/>
          </a:xfrm>
          <a:prstGeom prst="rect">
            <a:avLst/>
          </a:prstGeom>
          <a:solidFill>
            <a:srgbClr val="FFF0F0"/>
          </a:solidFill>
          <a:ln w="1905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206240" cy="347472"/>
          </a:xfrm>
          <a:prstGeom prst="rect">
            <a:avLst/>
          </a:prstGeom>
          <a:solidFill>
            <a:srgbClr val="E055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peu profond (shallow)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14884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Doit représenter chaque oscillation séparément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peut être exponentiel en d ou en 1/ε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 : O(exp(d)) neurones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206240" cy="2286000"/>
          </a:xfrm>
          <a:prstGeom prst="rect">
            <a:avLst/>
          </a:prstGeom>
          <a:solidFill>
            <a:srgbClr val="E8FAF0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206240" cy="34747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64608" y="1783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profond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4608" y="2148840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Compose les oscillations à chaque couche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2× plus de morceaux par couche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Coût : O(k) neurones pour 2ᵏ morceaux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206240"/>
            <a:ext cx="8503920" cy="5029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les fonctions hors de la classe de Barron, aucune borne indépendante de d n'est connue pour les réseaux peu profonds.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de recherche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777240"/>
            <a:ext cx="1280160" cy="1280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103120"/>
            <a:ext cx="8229600" cy="1325880"/>
          </a:xfrm>
          <a:prstGeom prst="rect">
            <a:avLst/>
          </a:prstGeom>
          <a:solidFill>
            <a:srgbClr val="1A2B5E"/>
          </a:solidFill>
          <a:ln w="2540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caractériser mathématiquement la classe des fonctions pour lesquelles la profondeur d'un réseau de neurones est strictement nécessaire 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c'est-à-dire : celles dont l'approximation par un réseau peu profond requiert un nombre de neurones exponentiellement plus grand.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1E35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94360" y="4224528"/>
            <a:ext cx="7955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8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Zouhair pose le cadre formel, puis présente les premiers résultats de séparation par profondeur.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CF8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Formalisme : définition d'un réseau feedforward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1325880"/>
          </a:xfrm>
          <a:prstGeom prst="rect">
            <a:avLst/>
          </a:prstGeom>
          <a:solidFill>
            <a:srgbClr val="EDF4FF"/>
          </a:solidFill>
          <a:ln w="1905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91440" cy="1325880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(réseau de profondeur 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h⁽⁰⁾ = x,     h⁽ˡ⁾ = σ( W⁽ˡ⁾ h⁽ˡ⁻¹⁾ + b⁽ˡ⁾ )    pour 1 ≤ l ≤ L,     fθ(x) = h⁽ᴸ⁾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W⁽ˡ⁾ ∈ ℝⁿˡ × ℝⁿˡ⁻¹,   b⁽ˡ⁾ ∈ ℝⁿˡ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2011680" cy="1691640"/>
          </a:xfrm>
          <a:prstGeom prst="rect">
            <a:avLst/>
          </a:prstGeom>
          <a:solidFill>
            <a:srgbClr val="F1F5FB"/>
          </a:solidFill>
          <a:ln w="1524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2011680" cy="91440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04288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93192" y="2880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3192" y="32004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couches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96312" y="2176272"/>
            <a:ext cx="2011680" cy="1691640"/>
          </a:xfrm>
          <a:prstGeom prst="rect">
            <a:avLst/>
          </a:prstGeom>
          <a:solidFill>
            <a:srgbClr val="F1F5FB"/>
          </a:solidFill>
          <a:ln w="1524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2496312" y="2176272"/>
            <a:ext cx="2011680" cy="91440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304288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9464" y="2880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 max n_l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69464" y="32004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Neurones par couche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72584" y="2176272"/>
            <a:ext cx="2011680" cy="1691640"/>
          </a:xfrm>
          <a:prstGeom prst="rect">
            <a:avLst/>
          </a:prstGeom>
          <a:solidFill>
            <a:srgbClr val="F1F5FB"/>
          </a:solidFill>
          <a:ln w="1524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4672584" y="2176272"/>
            <a:ext cx="2011680" cy="91440"/>
          </a:xfrm>
          <a:prstGeom prst="rect">
            <a:avLst/>
          </a:prstGeom>
          <a:solidFill>
            <a:srgbClr val="F4A8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2304288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45736" y="2880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Sigmoïde σ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45736" y="32004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σ(t) = 1/(1+e⁻ᵗ)  classique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48856" y="2176272"/>
            <a:ext cx="2011680" cy="1691640"/>
          </a:xfrm>
          <a:prstGeom prst="rect">
            <a:avLst/>
          </a:prstGeom>
          <a:solidFill>
            <a:srgbClr val="F1F5FB"/>
          </a:solidFill>
          <a:ln w="1524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6848856" y="2176272"/>
            <a:ext cx="2011680" cy="914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2304288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22008" y="28803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σ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22008" y="320040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σ(t) = max(0, t)  moderne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" y="4005072"/>
            <a:ext cx="8503920" cy="822960"/>
          </a:xfrm>
          <a:prstGeom prst="rect">
            <a:avLst/>
          </a:prstGeom>
          <a:solidFill>
            <a:srgbClr val="F8FAFF"/>
          </a:solidFill>
          <a:ln w="12700">
            <a:solidFill>
              <a:srgbClr val="1A2B5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457200" y="405993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centrale :  N(ε, f, L) = nombre minimal de neurones pour approcher f à précision ε avec profondeur ≤ 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: ∃ f  :  N(ε, f, L_petit) ≥ exp(d) · N(ε, f, L_grand)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Telgarsky (2016) — Fonctions zigzag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séparation exponentielle prouvée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754880" cy="1600200"/>
          </a:xfrm>
          <a:prstGeom prst="rect">
            <a:avLst/>
          </a:prstGeom>
          <a:solidFill>
            <a:srgbClr val="EDF4FF"/>
          </a:solidFill>
          <a:ln w="1905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91440" cy="1600200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: t(x) = 2|x − ½|  itéré k fois → tₖ a 2ᵏ morceaux linéaires sur [0, 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Théorème (Telgarsky, 2016)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Profondeur k, largeur O(1)  →  représente tₖ exactement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Profondeur ≤ k/2  →  nécessite ≥ 2ᵏ⁄⁶ neurones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886968"/>
            <a:ext cx="3611880" cy="160020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349240" y="914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252728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ReLU peut au plus DOUBLER le nombre de morceaux linéaires de la fonction représentée.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33472"/>
            <a:ext cx="2011680" cy="8686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0040" y="35295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 — 2 morceaux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2633472"/>
            <a:ext cx="2011680" cy="868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6312" y="35295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— 4 morceaux</a:t>
            </a:r>
            <a:endParaRPr lang="en-US" sz="9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2633472"/>
            <a:ext cx="2011680" cy="8686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72584" y="35295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 — 8 morceaux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2633472"/>
            <a:ext cx="2011680" cy="8686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48856" y="35295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 — 16 morceaux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0040" y="3886200"/>
            <a:ext cx="420624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457200" y="39502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shallow  →  génère chaque oscillation séparément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minimal : 2ᵏ⁄⁶ neurones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663440" y="3886200"/>
            <a:ext cx="4160520" cy="868680"/>
          </a:xfrm>
          <a:prstGeom prst="rect">
            <a:avLst/>
          </a:prstGeom>
          <a:solidFill>
            <a:srgbClr val="E8FA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4800600" y="39502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profond (k couches)  →  composition récursive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O(k) neurones pour 2ᵏ morceaux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Montufar et al. (2014) — Régions linéaires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Géométrie de l'expressivité d'un réseau ReLU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8503920" cy="868680"/>
          </a:xfrm>
          <a:prstGeom prst="rect">
            <a:avLst/>
          </a:prstGeom>
          <a:solidFill>
            <a:srgbClr val="EDF4FF"/>
          </a:solidFill>
          <a:ln w="1905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91440" cy="868680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Théorème (Montufar et al., 2014)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ReLU à L couches, largeur n, dimension d, génère jusqu'à  Θ( (n/d)^{d(L−1)} · nᵈ )  régions linéaires.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du nombre de régions linéaires (à paramètres fixés)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2194560"/>
          <a:ext cx="5943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492240" y="2194560"/>
            <a:ext cx="2331720" cy="1051560"/>
          </a:xfrm>
          <a:prstGeom prst="rect">
            <a:avLst/>
          </a:prstGeom>
          <a:solidFill>
            <a:srgbClr val="FFF0F0"/>
          </a:solidFill>
          <a:ln w="1270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583680" y="228600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Largeur 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polynomiale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92240" y="3337560"/>
            <a:ext cx="2331720" cy="1143000"/>
          </a:xfrm>
          <a:prstGeom prst="rect">
            <a:avLst/>
          </a:prstGeom>
          <a:solidFill>
            <a:srgbClr val="E8FA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583680" y="34290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EXPONENTIELLE 🚀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4645152"/>
            <a:ext cx="8503920" cy="338328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profondeur est exponentiellement plus efficace que la largeur pour la complexité géométrique.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Eldan &amp; Shamir (2016) — Fonctions radiales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2 vs 3 couches — résultat le plus surprenant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8503920" cy="594360"/>
          </a:xfrm>
          <a:prstGeom prst="rect">
            <a:avLst/>
          </a:prstGeom>
          <a:solidFill>
            <a:srgbClr val="EDF4FF"/>
          </a:solidFill>
          <a:ln w="1905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: f : ℝᵈ → ℝ  radiale (dépend uniquement de ‖x‖), fortement oscillante en ‖x‖.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8229600" cy="1234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Profondeur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Largeur nécessaire pour approcher 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 couches ReLU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633"/>
                          </a:solidFill>
                        </a:rPr>
                        <a:t>poly(d)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6633"/>
                          </a:solidFill>
                        </a:rPr>
                        <a:t>✓  Efficace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couches ReLU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05555"/>
                          </a:solidFill>
                        </a:rPr>
                        <a:t>≥ exp( Ω(d) 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05555"/>
                          </a:solidFill>
                        </a:rPr>
                        <a:t>✗  Exponentiel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127248"/>
            <a:ext cx="850392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EXPONENTIELLE entre profondeur 2 et profondeur 3, en dimension d.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320040" y="3886200"/>
            <a:ext cx="8503920" cy="960120"/>
          </a:xfrm>
          <a:prstGeom prst="rect">
            <a:avLst/>
          </a:prstGeom>
          <a:solidFill>
            <a:srgbClr val="EDF4FF"/>
          </a:solidFill>
          <a:ln w="1270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57200" y="39502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de preuve : analyse fine du spectre de Fourier en coordonnées radiales.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3ᵉ couche permet de reconcentrer l'oscillation radiale, ce qu'aucun réseau à 2 couches ne peut faire sans coût exponentiel.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(2017)  &amp;  Safran–Shamir (2017)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algébrique  ·  trade-off largeur–profondeur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206240" cy="3063240"/>
          </a:xfrm>
          <a:prstGeom prst="rect">
            <a:avLst/>
          </a:prstGeom>
          <a:solidFill>
            <a:srgbClr val="F1F5FB"/>
          </a:solidFill>
          <a:ln w="19050">
            <a:solidFill>
              <a:srgbClr val="4F86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4206240" cy="384048"/>
          </a:xfrm>
          <a:prstGeom prst="rect">
            <a:avLst/>
          </a:prstGeom>
          <a:solidFill>
            <a:srgbClr val="4F8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29768" y="914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— COLT 2017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ReLU à 2 couches à poids polynomialement bornés ne peut pas approcher f si f est loin de tout polynôme de bas degré sur  Sᵈ⁻¹ × Sᵈ⁻¹.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Condition SUFFISANTE de non-approximation par les réseaux peu profonds.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886968"/>
            <a:ext cx="4206240" cy="3063240"/>
          </a:xfrm>
          <a:prstGeom prst="rect">
            <a:avLst/>
          </a:prstGeom>
          <a:solidFill>
            <a:srgbClr val="F1F5FB"/>
          </a:solidFill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886968"/>
            <a:ext cx="420624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64608" y="914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Safran &amp; Shamir — ICML 2017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37160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des fonctions naturelles comme f(x) = ‖x‖₂ 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précision fixée, réduire L d'un facteur multiplicatif force une augmentation EXPONENTIELLE de 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Quantification du trade-off profondeur–largeur.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4069080"/>
            <a:ext cx="8503920" cy="73152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résultats caractérisent des conditions algébriques / analytiques sous lesquelles la profondeur est strictement nécessaire.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Raghu et al. (2017)  &amp;  Diakonikolas et al. (2022)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géométrique  ·  Caractérisation spectrale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42062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886968"/>
            <a:ext cx="4206240" cy="384048"/>
          </a:xfrm>
          <a:prstGeom prst="rect">
            <a:avLst/>
          </a:prstGeom>
          <a:solidFill>
            <a:srgbClr val="0D737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38912" y="9144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Raghu et al. — ICML 2017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de trajectoire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53312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longueur de l'image d'une courbe dans l'espace d'entrée croît exponentiellement avec la profondeur 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réseau profond « plie l'espace » exponentiellement plus qu'un réseau peu profond.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886968"/>
            <a:ext cx="42519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72000" y="886968"/>
            <a:ext cx="4251960" cy="384048"/>
          </a:xfrm>
          <a:prstGeom prst="rect">
            <a:avLst/>
          </a:prstGeom>
          <a:solidFill>
            <a:srgbClr val="F4A8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681728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Diakonikolas et al. — JMLR 2022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Caractérisation Fourier sphérique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4069080" cy="1417320"/>
          </a:xfrm>
          <a:prstGeom prst="rect">
            <a:avLst/>
          </a:prstGeom>
          <a:solidFill>
            <a:srgbClr val="FFFD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754880" y="14173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sphère Sᵈ⁻¹ 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approchable par poly(d) neurones à 1 couche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  spectre de Fourier sphérique concentré sur harmoniques de degré ≤ O(polylog d)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3035808"/>
            <a:ext cx="8503920" cy="59436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57200" y="3127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SEULE caractérisation nécessaire ET suffisante </a:t>
            </a:r>
            <a:r>
              <a:rPr lang="en-US" sz="1200" b="1" dirty="0" err="1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connue</a:t>
            </a: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mais uniquement sur la sphère Sᵈ⁻¹ en norme L².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57200" y="38221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Yarotsky (2017)  complémentaire : les réseaux ReLU profonds atteignent des taux d'approximation quasi-optimaux sur les boules de Sobolev W^{k,∞}([0,1]ᵈ), avec une profondeur qui croît comme log(1/ε), suggérant que la profondeur est essentielle pour les fonctions lisses-mais-rugueuses.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Vardi, Yehudai &amp; Shamir (2020) — Barrières formelles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caractérisation générale est-elle si difficile 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86968"/>
            <a:ext cx="8503920" cy="5943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preuves actuelles supposent (parfois implicitement) : ‖W⁽ˡ⁾‖∞, ‖b⁽ˡ⁾‖∞ ≤ poly(d)  — poids polynomialement bornés.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8503920" cy="1325880"/>
          </a:xfrm>
          <a:prstGeom prst="rect">
            <a:avLst/>
          </a:prstGeom>
          <a:solidFill>
            <a:srgbClr val="1E3555"/>
          </a:solidFill>
          <a:ln w="19050">
            <a:solidFill>
              <a:srgbClr val="E0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(NeurIPS 2020)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autorise des poids exponentiellement grands 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 réseau profond peut être simulé EXACTEMENT par un réseau peu profond.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Toutes les séparations connues (Telgarsky, Eldan–Shamir…) S'EFFONDRENT.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017520"/>
            <a:ext cx="914400" cy="9144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20040" y="4023360"/>
            <a:ext cx="8503920" cy="82296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caractérisation future devra :  (1) spécifier le régime de poids  ·  (2) s'appuyer sur des arguments valides si la contrainte poly est relâchée.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CF8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questions ouvertes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206240" cy="34747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 qui est établi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206240" cy="3566160"/>
          </a:xfrm>
          <a:prstGeom prst="rect">
            <a:avLst/>
          </a:prstGeom>
          <a:solidFill>
            <a:srgbClr val="E8FA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Séparations exponentielles prouvées : fonctions zigzag (Telgarsky), radiales (Eldan–Shamir), spectre sphérique (Diakonikolas et al.)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régions linéaires croît exponentiellement avec L (Montufar et al.)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Caractérisation nécessaire et suffisante sur Sᵈ⁻¹ en L² (Diakonikolas et al., 2022)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658368"/>
            <a:ext cx="4114800" cy="347472"/>
          </a:xfrm>
          <a:prstGeom prst="rect">
            <a:avLst/>
          </a:prstGeom>
          <a:solidFill>
            <a:srgbClr val="F4A8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00600" y="69494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Ce qui reste ouvert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14800" cy="3566160"/>
          </a:xfrm>
          <a:prstGeom prst="rect">
            <a:avLst/>
          </a:prstGeom>
          <a:solidFill>
            <a:srgbClr val="FFFDE7"/>
          </a:solidFill>
          <a:ln w="12700">
            <a:solidFill>
              <a:srgbClr val="F4A8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46320" y="10789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caractérisation nécessaire ET suffisante de portée générale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preuves ne tiennent que si les poids sont bornés polynomialement (Vardi et al.)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61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au-delà de la sphère : ouverte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602736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avec la complexité booléenne (NC¹ vs AC⁰) : à formaliser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640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principales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58368"/>
          <a:ext cx="8503920" cy="3803904"/>
        </p:xfrm>
        <a:graphic>
          <a:graphicData uri="http://schemas.openxmlformats.org/drawingml/2006/table">
            <a:tbl>
              <a:tblPr/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Auteurs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Année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Revue/Conf.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Contribution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Cybenko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1989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Math. Control Signals Syst.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Approximation universelle (sigmoïde)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Hornik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1991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Neural Networks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Activations non polynomiales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Barron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1993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IEEE Trans. Inf. Theory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Borne quantitative (Fourier)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Montufar et al.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2014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NeurIPS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Régions linéaires et profondeur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Eldan &amp; Shamir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COLT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Radiales, séparation 2 vs 3 couches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Telgarsky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2016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COLT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Zigzag, séparation exponentielle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Raghu et al.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ICML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Longueur de trajectoire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Daniely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COLT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Séparation via polynômes bas degré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Safran &amp; Shamir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ICML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Trade-offs profondeur–largeur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Yarotsky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Neural Networks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Bornes d'erreur ReLU profond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Vardi et al.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NeurIPS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Barrières formelles aux preuves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8DCF8"/>
                          </a:solidFill>
                        </a:rPr>
                        <a:t>Diakonikolas et al.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2022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C8DCF8"/>
                          </a:solidFill>
                        </a:rPr>
                        <a:t>JMLR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CF8"/>
                          </a:solidFill>
                        </a:rPr>
                        <a:t>Caractérisation Fourier sphérique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4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57200" y="4718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disponibles dans biblio/   —   Merci pour votre attention !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DCF8"/>
                </a:solidFill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1652</Words>
  <Application>Microsoft Office PowerPoint</Application>
  <PresentationFormat>On-screen Show (16:9)</PresentationFormat>
  <Paragraphs>237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Profondeur des réseaux de neurones</dc:title>
  <dc:subject>PptxGenJS Presentation</dc:subject>
  <dc:creator>Zouhair Saitout · Thibaud Crotta · Romain Ben</dc:creator>
  <cp:lastModifiedBy>Zouhair Saitout</cp:lastModifiedBy>
  <cp:revision>2</cp:revision>
  <dcterms:created xsi:type="dcterms:W3CDTF">2026-05-12T09:03:04Z</dcterms:created>
  <dcterms:modified xsi:type="dcterms:W3CDTF">2026-05-15T15:58:25Z</dcterms:modified>
</cp:coreProperties>
</file>